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59" r:id="rId5"/>
    <p:sldId id="267" r:id="rId6"/>
    <p:sldId id="265" r:id="rId7"/>
    <p:sldId id="264" r:id="rId8"/>
    <p:sldId id="266" r:id="rId9"/>
    <p:sldId id="261" r:id="rId10"/>
    <p:sldId id="26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en C" initials="JC" lastIdx="5" clrIdx="0">
    <p:extLst>
      <p:ext uri="{19B8F6BF-5375-455C-9EA6-DF929625EA0E}">
        <p15:presenceInfo xmlns:p15="http://schemas.microsoft.com/office/powerpoint/2012/main" userId="f6f591384ff1717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3835" autoAdjust="0"/>
  </p:normalViewPr>
  <p:slideViewPr>
    <p:cSldViewPr snapToGrid="0">
      <p:cViewPr varScale="1">
        <p:scale>
          <a:sx n="91" d="100"/>
          <a:sy n="91" d="100"/>
        </p:scale>
        <p:origin x="56" y="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C6716-4C41-42E0-837A-3E73A1FB240D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12B3A-B7B7-4141-AC2D-922EA235F0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3068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Regrouper les technologies et les fonctionnalités par correspondance, schéma géographique des composants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12B3A-B7B7-4141-AC2D-922EA235F01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753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où le travail a été repris, où</a:t>
            </a:r>
            <a:r>
              <a:rPr lang="fr-FR" baseline="0" dirty="0"/>
              <a:t> il est actuellement et où j’aimerai qu’il arrive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12B3A-B7B7-4141-AC2D-922EA235F01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293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où le travail a été repris, où</a:t>
            </a:r>
            <a:r>
              <a:rPr lang="fr-FR" baseline="0" dirty="0"/>
              <a:t> il est actuellement et où j’aimerai qu’il arrive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12B3A-B7B7-4141-AC2D-922EA235F01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2051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Parler des</a:t>
            </a:r>
            <a:r>
              <a:rPr lang="fr-FR" baseline="0" dirty="0"/>
              <a:t> paramètres et des modes économie d’énergie, mettre quelques lignes de données </a:t>
            </a:r>
            <a:r>
              <a:rPr lang="fr-FR" baseline="0"/>
              <a:t>en exemple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12B3A-B7B7-4141-AC2D-922EA235F01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2453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Parler des</a:t>
            </a:r>
            <a:r>
              <a:rPr lang="fr-FR" baseline="0" dirty="0"/>
              <a:t> paramètres et des modes économie d’énergie, mettre quelques lignes de données </a:t>
            </a:r>
            <a:r>
              <a:rPr lang="fr-FR" baseline="0"/>
              <a:t>en exemple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12B3A-B7B7-4141-AC2D-922EA235F01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310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Parler des</a:t>
            </a:r>
            <a:r>
              <a:rPr lang="fr-FR" baseline="0" dirty="0"/>
              <a:t> paramètres et des modes économie d’énergie, mettre quelques lignes de données </a:t>
            </a:r>
            <a:r>
              <a:rPr lang="fr-FR" baseline="0"/>
              <a:t>en exemple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12B3A-B7B7-4141-AC2D-922EA235F01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564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77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94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27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269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08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20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32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688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64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60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95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49B4F-73F1-4D48-BE0A-D6A9022619C9}" type="datetimeFigureOut">
              <a:rPr lang="fr-FR" smtClean="0"/>
              <a:t>30/07/2021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7EF80-109E-4D4B-B88D-E1D485C73D6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583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11785600" cy="1362850"/>
          </a:xfrm>
        </p:spPr>
        <p:txBody>
          <a:bodyPr>
            <a:normAutofit/>
          </a:bodyPr>
          <a:lstStyle/>
          <a:p>
            <a:r>
              <a:rPr lang="fr-FR" dirty="0"/>
              <a:t>Projet nichoir à mésanges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66800" y="1989892"/>
            <a:ext cx="4686300" cy="3458407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Sommaire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Présentation du projet 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Avancement 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Fonctionnalités particulières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Autonomie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Conclusion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076" y="5602606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153" y="5610503"/>
            <a:ext cx="949323" cy="949323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17499" y="5754806"/>
            <a:ext cx="3873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Stagiaire : Yann LEGUEREAU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Maitre de stage : Julien COURTECUISSE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550" y="1989893"/>
            <a:ext cx="493395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1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Présentation du projet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1057277" y="1994712"/>
            <a:ext cx="7197723" cy="2603500"/>
          </a:xfrm>
        </p:spPr>
        <p:txBody>
          <a:bodyPr/>
          <a:lstStyle/>
          <a:p>
            <a:pPr algn="l"/>
            <a:r>
              <a:rPr lang="fr-FR" dirty="0"/>
              <a:t>Système électronique et mécanique permettant de :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Capturer des mésanges</a:t>
            </a:r>
          </a:p>
          <a:p>
            <a:pPr marL="342900" indent="-342900" algn="l">
              <a:buFontTx/>
              <a:buChar char="-"/>
            </a:pPr>
            <a:r>
              <a:rPr lang="fr-FR" dirty="0"/>
              <a:t>Effectuer un traçage des entrées/sorties, de la température et de l’identité des oiseaux</a:t>
            </a:r>
          </a:p>
          <a:p>
            <a:pPr algn="l"/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859094"/>
            <a:ext cx="3234777" cy="364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Technologies utilisées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3</a:t>
            </a:r>
          </a:p>
        </p:txBody>
      </p:sp>
      <p:graphicFrame>
        <p:nvGraphicFramePr>
          <p:cNvPr id="12" name="Tableau 12">
            <a:extLst>
              <a:ext uri="{FF2B5EF4-FFF2-40B4-BE49-F238E27FC236}">
                <a16:creationId xmlns:a16="http://schemas.microsoft.com/office/drawing/2014/main" id="{282F5BCF-B7C3-46CB-9E24-C447B6DB6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115899"/>
              </p:ext>
            </p:extLst>
          </p:nvPr>
        </p:nvGraphicFramePr>
        <p:xfrm>
          <a:off x="1482506" y="1743975"/>
          <a:ext cx="9226988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3494">
                  <a:extLst>
                    <a:ext uri="{9D8B030D-6E8A-4147-A177-3AD203B41FA5}">
                      <a16:colId xmlns:a16="http://schemas.microsoft.com/office/drawing/2014/main" val="1014906250"/>
                    </a:ext>
                  </a:extLst>
                </a:gridCol>
                <a:gridCol w="4613494">
                  <a:extLst>
                    <a:ext uri="{9D8B030D-6E8A-4147-A177-3AD203B41FA5}">
                      <a16:colId xmlns:a16="http://schemas.microsoft.com/office/drawing/2014/main" val="184730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Fonction à réaliser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Technologies </a:t>
                      </a:r>
                      <a:r>
                        <a:rPr lang="en-GB" dirty="0" err="1"/>
                        <a:t>utilisées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65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Traçage</a:t>
                      </a:r>
                      <a:r>
                        <a:rPr lang="en-GB" dirty="0"/>
                        <a:t> de données et gestion des </a:t>
                      </a:r>
                      <a:r>
                        <a:rPr lang="en-GB" dirty="0" err="1"/>
                        <a:t>capteurs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Carte de </a:t>
                      </a:r>
                      <a:r>
                        <a:rPr lang="en-GB" dirty="0" err="1"/>
                        <a:t>développement</a:t>
                      </a:r>
                      <a:r>
                        <a:rPr lang="en-GB" dirty="0"/>
                        <a:t> type Arduino avec slot microSD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901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Traçage</a:t>
                      </a:r>
                      <a:r>
                        <a:rPr lang="en-GB" dirty="0"/>
                        <a:t> du temps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Horloge</a:t>
                      </a:r>
                      <a:r>
                        <a:rPr lang="en-GB" dirty="0"/>
                        <a:t> RTC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664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Détection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d’entrées</a:t>
                      </a:r>
                      <a:r>
                        <a:rPr lang="en-GB" dirty="0"/>
                        <a:t>/sorties de </a:t>
                      </a:r>
                      <a:r>
                        <a:rPr lang="en-GB" dirty="0" err="1"/>
                        <a:t>mésanges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Capteurs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infrarouges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8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Détection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d’individus</a:t>
                      </a:r>
                      <a:r>
                        <a:rPr lang="en-GB" dirty="0"/>
                        <a:t> particulier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Module et </a:t>
                      </a:r>
                      <a:r>
                        <a:rPr lang="en-GB" dirty="0" err="1"/>
                        <a:t>puces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RFiD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75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Traçage</a:t>
                      </a:r>
                      <a:r>
                        <a:rPr lang="en-GB" dirty="0"/>
                        <a:t> de la </a:t>
                      </a:r>
                      <a:r>
                        <a:rPr lang="en-GB" dirty="0" err="1"/>
                        <a:t>température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Capteur</a:t>
                      </a:r>
                      <a:r>
                        <a:rPr lang="en-GB" dirty="0"/>
                        <a:t> de temperature à </a:t>
                      </a:r>
                      <a:r>
                        <a:rPr lang="en-GB" dirty="0" err="1"/>
                        <a:t>résistance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7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Capturer les </a:t>
                      </a:r>
                      <a:r>
                        <a:rPr lang="en-GB" dirty="0" err="1"/>
                        <a:t>mésanges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Servo </a:t>
                      </a:r>
                      <a:r>
                        <a:rPr lang="en-GB" dirty="0" err="1"/>
                        <a:t>moteur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905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Fonctionner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autonomie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Panneau</a:t>
                      </a:r>
                      <a:r>
                        <a:rPr lang="en-GB" dirty="0"/>
                        <a:t> solaire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0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Se fixer sur le </a:t>
                      </a:r>
                      <a:r>
                        <a:rPr lang="en-GB" dirty="0" err="1"/>
                        <a:t>nichoir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Chevilles et vis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337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42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Schéma du système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4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384" y="1728825"/>
            <a:ext cx="3156631" cy="420884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66120B7-CEC2-4A09-96E0-C7CEDC8FAD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63" y="1241423"/>
            <a:ext cx="6241473" cy="49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0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Avancement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DCF3546-59AB-4FBC-BD8C-F4CD5C57CA5C}"/>
              </a:ext>
            </a:extLst>
          </p:cNvPr>
          <p:cNvSpPr txBox="1"/>
          <p:nvPr/>
        </p:nvSpPr>
        <p:spPr>
          <a:xfrm>
            <a:off x="691035" y="2024244"/>
            <a:ext cx="3259731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Etat du </a:t>
            </a:r>
            <a:r>
              <a:rPr lang="en-GB" b="1" dirty="0" err="1"/>
              <a:t>projet</a:t>
            </a:r>
            <a:r>
              <a:rPr lang="en-GB" b="1" dirty="0"/>
              <a:t> au début du stage</a:t>
            </a:r>
          </a:p>
          <a:p>
            <a:endParaRPr lang="en-GB" dirty="0"/>
          </a:p>
          <a:p>
            <a:r>
              <a:rPr lang="en-GB" dirty="0"/>
              <a:t>- Programme </a:t>
            </a:r>
            <a:r>
              <a:rPr lang="en-GB" dirty="0" err="1"/>
              <a:t>commencé</a:t>
            </a:r>
            <a:r>
              <a:rPr lang="en-GB" dirty="0"/>
              <a:t> avec </a:t>
            </a:r>
            <a:r>
              <a:rPr lang="en-GB" dirty="0" err="1"/>
              <a:t>boucles</a:t>
            </a:r>
            <a:r>
              <a:rPr lang="en-GB" dirty="0"/>
              <a:t> et </a:t>
            </a:r>
            <a:r>
              <a:rPr lang="en-GB" dirty="0" err="1"/>
              <a:t>fonctions</a:t>
            </a:r>
            <a:r>
              <a:rPr lang="en-GB" dirty="0"/>
              <a:t> </a:t>
            </a:r>
            <a:r>
              <a:rPr lang="en-GB" dirty="0" err="1"/>
              <a:t>principales</a:t>
            </a:r>
            <a:endParaRPr lang="en-GB" dirty="0"/>
          </a:p>
          <a:p>
            <a:r>
              <a:rPr lang="en-GB" dirty="0"/>
              <a:t>- Pas </a:t>
            </a:r>
            <a:r>
              <a:rPr lang="en-GB" dirty="0" err="1"/>
              <a:t>d’intégration</a:t>
            </a:r>
            <a:r>
              <a:rPr lang="en-GB" dirty="0"/>
              <a:t> des </a:t>
            </a:r>
            <a:r>
              <a:rPr lang="en-GB" dirty="0" err="1"/>
              <a:t>composants</a:t>
            </a:r>
            <a:endParaRPr lang="en-GB" dirty="0"/>
          </a:p>
          <a:p>
            <a:r>
              <a:rPr lang="en-GB" dirty="0"/>
              <a:t>- Pas de </a:t>
            </a:r>
            <a:r>
              <a:rPr lang="en-GB" dirty="0" err="1"/>
              <a:t>cablage</a:t>
            </a:r>
            <a:endParaRPr lang="en-GB" dirty="0"/>
          </a:p>
          <a:p>
            <a:r>
              <a:rPr lang="en-GB" dirty="0"/>
              <a:t>- Prototype de </a:t>
            </a:r>
            <a:r>
              <a:rPr lang="en-GB" dirty="0" err="1"/>
              <a:t>boitier</a:t>
            </a:r>
            <a:r>
              <a:rPr lang="en-GB" dirty="0"/>
              <a:t> </a:t>
            </a:r>
            <a:r>
              <a:rPr lang="en-GB" dirty="0" err="1"/>
              <a:t>conçu</a:t>
            </a:r>
            <a:endParaRPr lang="en-GB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02C6F9D-B029-4229-8E9E-DE9C84F6E420}"/>
              </a:ext>
            </a:extLst>
          </p:cNvPr>
          <p:cNvSpPr txBox="1"/>
          <p:nvPr/>
        </p:nvSpPr>
        <p:spPr>
          <a:xfrm>
            <a:off x="4359105" y="2024244"/>
            <a:ext cx="3259731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Etat du </a:t>
            </a:r>
            <a:r>
              <a:rPr lang="en-GB" b="1" dirty="0" err="1"/>
              <a:t>projet</a:t>
            </a:r>
            <a:r>
              <a:rPr lang="en-GB" b="1" dirty="0"/>
              <a:t> </a:t>
            </a:r>
            <a:r>
              <a:rPr lang="en-GB" b="1" dirty="0" err="1"/>
              <a:t>actuellement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- Programme </a:t>
            </a:r>
            <a:r>
              <a:rPr lang="en-GB" dirty="0" err="1"/>
              <a:t>fini</a:t>
            </a:r>
            <a:r>
              <a:rPr lang="en-GB" dirty="0"/>
              <a:t> à </a:t>
            </a:r>
            <a:r>
              <a:rPr lang="en-GB" dirty="0" err="1"/>
              <a:t>quelques</a:t>
            </a:r>
            <a:r>
              <a:rPr lang="en-GB" dirty="0"/>
              <a:t> </a:t>
            </a:r>
            <a:r>
              <a:rPr lang="en-GB" dirty="0" err="1"/>
              <a:t>paramètres</a:t>
            </a:r>
            <a:r>
              <a:rPr lang="en-GB" dirty="0"/>
              <a:t> </a:t>
            </a:r>
            <a:r>
              <a:rPr lang="en-GB" dirty="0" err="1"/>
              <a:t>prêts</a:t>
            </a:r>
            <a:endParaRPr lang="en-GB" dirty="0"/>
          </a:p>
          <a:p>
            <a:r>
              <a:rPr lang="en-GB" dirty="0"/>
              <a:t>- </a:t>
            </a:r>
            <a:r>
              <a:rPr lang="en-GB" dirty="0" err="1"/>
              <a:t>Intégration</a:t>
            </a:r>
            <a:r>
              <a:rPr lang="en-GB" dirty="0"/>
              <a:t> des </a:t>
            </a:r>
            <a:r>
              <a:rPr lang="en-GB" dirty="0" err="1"/>
              <a:t>composants</a:t>
            </a:r>
            <a:endParaRPr lang="en-GB" dirty="0"/>
          </a:p>
          <a:p>
            <a:r>
              <a:rPr lang="en-GB" dirty="0"/>
              <a:t>- </a:t>
            </a:r>
            <a:r>
              <a:rPr lang="en-GB" dirty="0" err="1"/>
              <a:t>Cablage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cours</a:t>
            </a:r>
            <a:endParaRPr lang="en-GB" dirty="0"/>
          </a:p>
          <a:p>
            <a:r>
              <a:rPr lang="en-GB" dirty="0"/>
              <a:t>- Prototype de </a:t>
            </a:r>
            <a:r>
              <a:rPr lang="en-GB" dirty="0" err="1"/>
              <a:t>boitier</a:t>
            </a:r>
            <a:r>
              <a:rPr lang="en-GB" dirty="0"/>
              <a:t> </a:t>
            </a:r>
            <a:r>
              <a:rPr lang="en-GB" dirty="0" err="1"/>
              <a:t>imprimé</a:t>
            </a:r>
            <a:endParaRPr lang="en-GB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237F57-5008-4E1B-BBC0-AC07836BD43E}"/>
              </a:ext>
            </a:extLst>
          </p:cNvPr>
          <p:cNvSpPr txBox="1"/>
          <p:nvPr/>
        </p:nvSpPr>
        <p:spPr>
          <a:xfrm>
            <a:off x="8027175" y="2024244"/>
            <a:ext cx="3259731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Etat du </a:t>
            </a:r>
            <a:r>
              <a:rPr lang="en-GB" b="1" dirty="0" err="1"/>
              <a:t>projet</a:t>
            </a:r>
            <a:r>
              <a:rPr lang="en-GB" b="1" dirty="0"/>
              <a:t> </a:t>
            </a:r>
            <a:r>
              <a:rPr lang="en-GB" b="1" dirty="0" err="1"/>
              <a:t>désiré</a:t>
            </a:r>
            <a:r>
              <a:rPr lang="en-GB" b="1" dirty="0"/>
              <a:t> à la fin du stage</a:t>
            </a:r>
          </a:p>
          <a:p>
            <a:endParaRPr lang="en-GB" dirty="0"/>
          </a:p>
          <a:p>
            <a:r>
              <a:rPr lang="en-GB" dirty="0"/>
              <a:t>- Prototype </a:t>
            </a:r>
            <a:r>
              <a:rPr lang="en-GB" dirty="0" err="1"/>
              <a:t>complet</a:t>
            </a:r>
            <a:r>
              <a:rPr lang="en-GB" dirty="0"/>
              <a:t> </a:t>
            </a:r>
            <a:r>
              <a:rPr lang="en-GB" dirty="0" err="1"/>
              <a:t>fonctionnel</a:t>
            </a:r>
            <a:r>
              <a:rPr lang="en-GB" dirty="0"/>
              <a:t> </a:t>
            </a:r>
          </a:p>
          <a:p>
            <a:r>
              <a:rPr lang="en-GB" dirty="0"/>
              <a:t>- Fabrication d’un nouveau </a:t>
            </a:r>
            <a:r>
              <a:rPr lang="en-GB" dirty="0" err="1"/>
              <a:t>boitier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possible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A5B9693-EFC2-4C05-AC3C-38E554C7BF37}"/>
              </a:ext>
            </a:extLst>
          </p:cNvPr>
          <p:cNvSpPr txBox="1"/>
          <p:nvPr/>
        </p:nvSpPr>
        <p:spPr>
          <a:xfrm>
            <a:off x="1577514" y="4770637"/>
            <a:ext cx="148677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Début </a:t>
            </a:r>
            <a:r>
              <a:rPr lang="en-GB" dirty="0" err="1"/>
              <a:t>Juin</a:t>
            </a:r>
            <a:endParaRPr lang="en-GB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4618E08-EA7C-4C31-9D89-50AD72453604}"/>
              </a:ext>
            </a:extLst>
          </p:cNvPr>
          <p:cNvSpPr txBox="1"/>
          <p:nvPr/>
        </p:nvSpPr>
        <p:spPr>
          <a:xfrm>
            <a:off x="5245584" y="4770637"/>
            <a:ext cx="148677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Début </a:t>
            </a:r>
            <a:r>
              <a:rPr lang="en-GB" dirty="0" err="1"/>
              <a:t>Juillet</a:t>
            </a:r>
            <a:endParaRPr lang="en-GB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AB36199-79C8-44CE-88E3-B8416A7DB89C}"/>
              </a:ext>
            </a:extLst>
          </p:cNvPr>
          <p:cNvSpPr txBox="1"/>
          <p:nvPr/>
        </p:nvSpPr>
        <p:spPr>
          <a:xfrm>
            <a:off x="9092311" y="4759869"/>
            <a:ext cx="112945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Fin </a:t>
            </a:r>
            <a:r>
              <a:rPr lang="en-GB" dirty="0" err="1"/>
              <a:t>Juillet</a:t>
            </a:r>
            <a:endParaRPr lang="en-GB" dirty="0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0331289-DA3D-4293-844D-F3F0A26EA927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3064286" y="4955303"/>
            <a:ext cx="21812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93C43C44-4104-4696-859B-97040F7F2447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6732356" y="4944535"/>
            <a:ext cx="2359955" cy="10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58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Fonctionnalités particulières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9685599-9695-40A2-9170-E8408B20E643}"/>
              </a:ext>
            </a:extLst>
          </p:cNvPr>
          <p:cNvSpPr txBox="1"/>
          <p:nvPr/>
        </p:nvSpPr>
        <p:spPr>
          <a:xfrm>
            <a:off x="6630659" y="1749896"/>
            <a:ext cx="4544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Fonctionnement</a:t>
            </a:r>
            <a:r>
              <a:rPr lang="en-GB" sz="2800" dirty="0"/>
              <a:t> de la </a:t>
            </a:r>
            <a:r>
              <a:rPr lang="en-GB" sz="2800" dirty="0" err="1"/>
              <a:t>trappe</a:t>
            </a:r>
            <a:endParaRPr lang="en-GB" sz="2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629A2DE-95E8-47F0-8F3B-DCB6F42ECAD7}"/>
              </a:ext>
            </a:extLst>
          </p:cNvPr>
          <p:cNvSpPr txBox="1"/>
          <p:nvPr/>
        </p:nvSpPr>
        <p:spPr>
          <a:xfrm>
            <a:off x="1576350" y="1770211"/>
            <a:ext cx="3692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Modes de capture</a:t>
            </a:r>
          </a:p>
        </p:txBody>
      </p:sp>
      <p:graphicFrame>
        <p:nvGraphicFramePr>
          <p:cNvPr id="3" name="Tableau 5">
            <a:extLst>
              <a:ext uri="{FF2B5EF4-FFF2-40B4-BE49-F238E27FC236}">
                <a16:creationId xmlns:a16="http://schemas.microsoft.com/office/drawing/2014/main" id="{AA6B66C1-4F56-499D-847D-793652764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773113"/>
              </p:ext>
            </p:extLst>
          </p:nvPr>
        </p:nvGraphicFramePr>
        <p:xfrm>
          <a:off x="872130" y="2687348"/>
          <a:ext cx="4613106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573">
                  <a:extLst>
                    <a:ext uri="{9D8B030D-6E8A-4147-A177-3AD203B41FA5}">
                      <a16:colId xmlns:a16="http://schemas.microsoft.com/office/drawing/2014/main" val="1080664017"/>
                    </a:ext>
                  </a:extLst>
                </a:gridCol>
                <a:gridCol w="3329533">
                  <a:extLst>
                    <a:ext uri="{9D8B030D-6E8A-4147-A177-3AD203B41FA5}">
                      <a16:colId xmlns:a16="http://schemas.microsoft.com/office/drawing/2014/main" val="1999717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 de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Fonctionnement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182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Aucune</a:t>
                      </a:r>
                      <a:r>
                        <a:rPr lang="en-GB" dirty="0"/>
                        <a:t> captures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872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Capture </a:t>
                      </a:r>
                      <a:r>
                        <a:rPr lang="en-GB" dirty="0" err="1"/>
                        <a:t>Systématique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597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Capture </a:t>
                      </a:r>
                      <a:r>
                        <a:rPr lang="en-GB" dirty="0" err="1"/>
                        <a:t>d’individus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ayant</a:t>
                      </a:r>
                      <a:r>
                        <a:rPr lang="en-GB" dirty="0"/>
                        <a:t> un tag </a:t>
                      </a:r>
                      <a:r>
                        <a:rPr lang="en-GB" dirty="0" err="1"/>
                        <a:t>RFiD</a:t>
                      </a:r>
                      <a:r>
                        <a:rPr lang="en-GB" dirty="0"/>
                        <a:t> particulier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95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Capture </a:t>
                      </a:r>
                      <a:r>
                        <a:rPr lang="en-GB" dirty="0" err="1"/>
                        <a:t>d’oiseaux</a:t>
                      </a:r>
                      <a:r>
                        <a:rPr lang="en-GB" dirty="0"/>
                        <a:t> sans tag </a:t>
                      </a:r>
                      <a:r>
                        <a:rPr lang="en-GB" dirty="0" err="1"/>
                        <a:t>RFiD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940893"/>
                  </a:ext>
                </a:extLst>
              </a:tr>
            </a:tbl>
          </a:graphicData>
        </a:graphic>
      </p:graphicFrame>
      <p:sp>
        <p:nvSpPr>
          <p:cNvPr id="12" name="ZoneTexte 11">
            <a:extLst>
              <a:ext uri="{FF2B5EF4-FFF2-40B4-BE49-F238E27FC236}">
                <a16:creationId xmlns:a16="http://schemas.microsoft.com/office/drawing/2014/main" id="{9A006B5E-60EE-4FF6-84FF-5A28593B74D1}"/>
              </a:ext>
            </a:extLst>
          </p:cNvPr>
          <p:cNvSpPr txBox="1"/>
          <p:nvPr/>
        </p:nvSpPr>
        <p:spPr>
          <a:xfrm>
            <a:off x="7814282" y="2596923"/>
            <a:ext cx="140301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Fermeture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1734B99-D895-4B99-A4AA-8D5C51B504E7}"/>
              </a:ext>
            </a:extLst>
          </p:cNvPr>
          <p:cNvSpPr txBox="1"/>
          <p:nvPr/>
        </p:nvSpPr>
        <p:spPr>
          <a:xfrm>
            <a:off x="6952233" y="3761668"/>
            <a:ext cx="3127108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Ouverture</a:t>
            </a:r>
            <a:r>
              <a:rPr lang="en-GB" dirty="0"/>
              <a:t>, fermeture </a:t>
            </a:r>
            <a:r>
              <a:rPr lang="en-GB" dirty="0" err="1"/>
              <a:t>bloquée</a:t>
            </a:r>
            <a:r>
              <a:rPr lang="en-GB" dirty="0"/>
              <a:t>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F4D45E7-A1F9-4102-9EE3-8D1FFFE3CE55}"/>
              </a:ext>
            </a:extLst>
          </p:cNvPr>
          <p:cNvSpPr txBox="1"/>
          <p:nvPr/>
        </p:nvSpPr>
        <p:spPr>
          <a:xfrm>
            <a:off x="7322180" y="4836903"/>
            <a:ext cx="238721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Refermeture</a:t>
            </a:r>
            <a:r>
              <a:rPr lang="en-GB" dirty="0"/>
              <a:t> possible 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0E6D2BC9-4DE6-4CF4-86C9-DEBD74550693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8515787" y="2966255"/>
            <a:ext cx="0" cy="795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4AE0E67-7259-4386-AF4C-63622557002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515787" y="4131000"/>
            <a:ext cx="0" cy="705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DB366DC8-8B04-4228-8F2A-1D6CB658ECF0}"/>
              </a:ext>
            </a:extLst>
          </p:cNvPr>
          <p:cNvSpPr txBox="1"/>
          <p:nvPr/>
        </p:nvSpPr>
        <p:spPr>
          <a:xfrm>
            <a:off x="8613508" y="3179295"/>
            <a:ext cx="218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délais</a:t>
            </a:r>
            <a:r>
              <a:rPr lang="en-GB" dirty="0"/>
              <a:t> </a:t>
            </a:r>
            <a:r>
              <a:rPr lang="en-GB" dirty="0" err="1"/>
              <a:t>ouverture</a:t>
            </a:r>
            <a:r>
              <a:rPr lang="en-GB" dirty="0"/>
              <a:t>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20F6DF0-F732-452A-B5A2-A0BEA94C2CC9}"/>
              </a:ext>
            </a:extLst>
          </p:cNvPr>
          <p:cNvSpPr txBox="1"/>
          <p:nvPr/>
        </p:nvSpPr>
        <p:spPr>
          <a:xfrm>
            <a:off x="8613508" y="4272065"/>
            <a:ext cx="218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délais</a:t>
            </a:r>
            <a:r>
              <a:rPr lang="en-GB" dirty="0"/>
              <a:t> fermeture</a:t>
            </a:r>
          </a:p>
        </p:txBody>
      </p:sp>
    </p:spTree>
    <p:extLst>
      <p:ext uri="{BB962C8B-B14F-4D97-AF65-F5344CB8AC3E}">
        <p14:creationId xmlns:p14="http://schemas.microsoft.com/office/powerpoint/2010/main" val="254451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Fonctionnalités particulières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9685599-9695-40A2-9170-E8408B20E643}"/>
              </a:ext>
            </a:extLst>
          </p:cNvPr>
          <p:cNvSpPr txBox="1"/>
          <p:nvPr/>
        </p:nvSpPr>
        <p:spPr>
          <a:xfrm>
            <a:off x="2903549" y="1417429"/>
            <a:ext cx="6499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Gestion des </a:t>
            </a:r>
            <a:r>
              <a:rPr lang="en-GB" sz="2800" dirty="0" err="1"/>
              <a:t>paramètres</a:t>
            </a:r>
            <a:endParaRPr lang="en-GB" sz="2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6A5EA2D-E12C-47C9-B761-AA9BC7619983}"/>
              </a:ext>
            </a:extLst>
          </p:cNvPr>
          <p:cNvSpPr txBox="1"/>
          <p:nvPr/>
        </p:nvSpPr>
        <p:spPr>
          <a:xfrm>
            <a:off x="1019103" y="2128947"/>
            <a:ext cx="9004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Facilité pour l’utilisateur à travers un fichier texte sur la carte </a:t>
            </a:r>
            <a:r>
              <a:rPr lang="fr-FR" sz="2000" dirty="0" err="1"/>
              <a:t>microSD</a:t>
            </a:r>
            <a:endParaRPr lang="fr-FR" sz="2000" dirty="0"/>
          </a:p>
        </p:txBody>
      </p:sp>
      <p:graphicFrame>
        <p:nvGraphicFramePr>
          <p:cNvPr id="6" name="Tableau 9">
            <a:extLst>
              <a:ext uri="{FF2B5EF4-FFF2-40B4-BE49-F238E27FC236}">
                <a16:creationId xmlns:a16="http://schemas.microsoft.com/office/drawing/2014/main" id="{5F260746-EA6F-4E8F-A50C-FDF3BF9D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455030"/>
              </p:ext>
            </p:extLst>
          </p:nvPr>
        </p:nvGraphicFramePr>
        <p:xfrm>
          <a:off x="687352" y="2900156"/>
          <a:ext cx="507825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284">
                  <a:extLst>
                    <a:ext uri="{9D8B030D-6E8A-4147-A177-3AD203B41FA5}">
                      <a16:colId xmlns:a16="http://schemas.microsoft.com/office/drawing/2014/main" val="354523402"/>
                    </a:ext>
                  </a:extLst>
                </a:gridCol>
                <a:gridCol w="3100970">
                  <a:extLst>
                    <a:ext uri="{9D8B030D-6E8A-4147-A177-3AD203B41FA5}">
                      <a16:colId xmlns:a16="http://schemas.microsoft.com/office/drawing/2014/main" val="145681373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dirty="0" err="1"/>
                        <a:t>Paramètres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d’activation</a:t>
                      </a:r>
                      <a:r>
                        <a:rPr lang="en-GB" sz="1400" dirty="0"/>
                        <a:t> de </a:t>
                      </a:r>
                      <a:r>
                        <a:rPr lang="en-GB" sz="1400" dirty="0" err="1"/>
                        <a:t>composants</a:t>
                      </a:r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5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opt_IR_1 / opt_IR_2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Activation des </a:t>
                      </a:r>
                      <a:r>
                        <a:rPr lang="en-GB" sz="1400" dirty="0" err="1"/>
                        <a:t>capteurs</a:t>
                      </a:r>
                      <a:r>
                        <a:rPr lang="en-GB" sz="1400" dirty="0"/>
                        <a:t> 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19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opt_temp_prec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Traçage</a:t>
                      </a:r>
                      <a:r>
                        <a:rPr lang="en-GB" sz="1400" dirty="0"/>
                        <a:t> de la 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76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opt_servo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Activation du </a:t>
                      </a:r>
                      <a:r>
                        <a:rPr lang="en-GB" sz="1400" dirty="0" err="1"/>
                        <a:t>servomoteur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82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opt_rfid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Activation module </a:t>
                      </a:r>
                      <a:r>
                        <a:rPr lang="en-GB" sz="1400" dirty="0" err="1"/>
                        <a:t>RFiD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38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mode_day_only</a:t>
                      </a:r>
                      <a:r>
                        <a:rPr lang="en-GB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Contrôle</a:t>
                      </a:r>
                      <a:r>
                        <a:rPr lang="en-GB" sz="1400" dirty="0"/>
                        <a:t> le mode </a:t>
                      </a:r>
                      <a:r>
                        <a:rPr lang="en-GB" sz="1400" dirty="0" err="1"/>
                        <a:t>économie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d’énergie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9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capture_mode</a:t>
                      </a:r>
                      <a:r>
                        <a:rPr lang="en-GB" sz="1400" dirty="0"/>
                        <a:t> (de 1 à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Contrôle</a:t>
                      </a:r>
                      <a:r>
                        <a:rPr lang="en-GB" sz="1400" dirty="0"/>
                        <a:t> les modes de capture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750559"/>
                  </a:ext>
                </a:extLst>
              </a:tr>
            </a:tbl>
          </a:graphicData>
        </a:graphic>
      </p:graphicFrame>
      <p:graphicFrame>
        <p:nvGraphicFramePr>
          <p:cNvPr id="12" name="Tableau 9">
            <a:extLst>
              <a:ext uri="{FF2B5EF4-FFF2-40B4-BE49-F238E27FC236}">
                <a16:creationId xmlns:a16="http://schemas.microsoft.com/office/drawing/2014/main" id="{9587C60D-7E6D-401A-9AE2-91D9BBB7A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15254"/>
              </p:ext>
            </p:extLst>
          </p:nvPr>
        </p:nvGraphicFramePr>
        <p:xfrm>
          <a:off x="6415246" y="2900156"/>
          <a:ext cx="507825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284">
                  <a:extLst>
                    <a:ext uri="{9D8B030D-6E8A-4147-A177-3AD203B41FA5}">
                      <a16:colId xmlns:a16="http://schemas.microsoft.com/office/drawing/2014/main" val="354523402"/>
                    </a:ext>
                  </a:extLst>
                </a:gridCol>
                <a:gridCol w="3100970">
                  <a:extLst>
                    <a:ext uri="{9D8B030D-6E8A-4147-A177-3AD203B41FA5}">
                      <a16:colId xmlns:a16="http://schemas.microsoft.com/office/drawing/2014/main" val="145681373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dirty="0" err="1"/>
                        <a:t>Paramètres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temporels</a:t>
                      </a:r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5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Start_time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Temps de </a:t>
                      </a:r>
                      <a:r>
                        <a:rPr lang="en-GB" sz="1400" dirty="0" err="1"/>
                        <a:t>démarage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en</a:t>
                      </a:r>
                      <a:r>
                        <a:rPr lang="en-GB" sz="1400" dirty="0"/>
                        <a:t> mode </a:t>
                      </a:r>
                      <a:r>
                        <a:rPr lang="en-GB" sz="1400" dirty="0" err="1"/>
                        <a:t>éco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19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Stop_time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Temps </a:t>
                      </a:r>
                      <a:r>
                        <a:rPr lang="en-GB" sz="1400" dirty="0" err="1"/>
                        <a:t>d’arrêt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en</a:t>
                      </a:r>
                      <a:r>
                        <a:rPr lang="en-GB" sz="1400" dirty="0"/>
                        <a:t> mode </a:t>
                      </a:r>
                      <a:r>
                        <a:rPr lang="en-GB" sz="1400" dirty="0" err="1"/>
                        <a:t>éco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76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Delay_loop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Temps entre </a:t>
                      </a:r>
                      <a:r>
                        <a:rPr lang="en-GB" sz="1400" dirty="0" err="1"/>
                        <a:t>itération</a:t>
                      </a:r>
                      <a:r>
                        <a:rPr lang="en-GB" sz="1400" dirty="0"/>
                        <a:t> du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82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Delay_tag_save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Temps de lecture d’un tag </a:t>
                      </a:r>
                      <a:r>
                        <a:rPr lang="en-GB" sz="1400" dirty="0" err="1"/>
                        <a:t>RFiD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38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Security_time_closing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Temps minimal </a:t>
                      </a:r>
                      <a:r>
                        <a:rPr lang="en-GB" sz="1400" dirty="0" err="1"/>
                        <a:t>d’ouverture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91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err="1"/>
                        <a:t>Security_time_opening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Délais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d’ouverture</a:t>
                      </a:r>
                      <a:r>
                        <a:rPr lang="en-GB" sz="1400" dirty="0"/>
                        <a:t> de </a:t>
                      </a:r>
                      <a:r>
                        <a:rPr lang="en-GB" sz="1400" dirty="0" err="1"/>
                        <a:t>sécurité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750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31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4567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Fonctionnalités particulières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9685599-9695-40A2-9170-E8408B20E643}"/>
              </a:ext>
            </a:extLst>
          </p:cNvPr>
          <p:cNvSpPr txBox="1"/>
          <p:nvPr/>
        </p:nvSpPr>
        <p:spPr>
          <a:xfrm>
            <a:off x="1298308" y="1538869"/>
            <a:ext cx="3692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Gestion des paramètres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6A5EA2D-E12C-47C9-B761-AA9BC7619983}"/>
              </a:ext>
            </a:extLst>
          </p:cNvPr>
          <p:cNvSpPr txBox="1"/>
          <p:nvPr/>
        </p:nvSpPr>
        <p:spPr>
          <a:xfrm>
            <a:off x="853228" y="2260924"/>
            <a:ext cx="47465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Tags </a:t>
            </a:r>
            <a:r>
              <a:rPr lang="fr-FR" sz="2000" dirty="0" err="1"/>
              <a:t>RFiD</a:t>
            </a:r>
            <a:r>
              <a:rPr lang="fr-FR" sz="2000" dirty="0"/>
              <a:t> à capturer en mode de capture 3</a:t>
            </a:r>
          </a:p>
        </p:txBody>
      </p:sp>
      <p:graphicFrame>
        <p:nvGraphicFramePr>
          <p:cNvPr id="6" name="Tableau 9">
            <a:extLst>
              <a:ext uri="{FF2B5EF4-FFF2-40B4-BE49-F238E27FC236}">
                <a16:creationId xmlns:a16="http://schemas.microsoft.com/office/drawing/2014/main" id="{5F260746-EA6F-4E8F-A50C-FDF3BF9D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23577"/>
              </p:ext>
            </p:extLst>
          </p:nvPr>
        </p:nvGraphicFramePr>
        <p:xfrm>
          <a:off x="687352" y="2900156"/>
          <a:ext cx="50782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7284">
                  <a:extLst>
                    <a:ext uri="{9D8B030D-6E8A-4147-A177-3AD203B41FA5}">
                      <a16:colId xmlns:a16="http://schemas.microsoft.com/office/drawing/2014/main" val="354523402"/>
                    </a:ext>
                  </a:extLst>
                </a:gridCol>
                <a:gridCol w="3100970">
                  <a:extLst>
                    <a:ext uri="{9D8B030D-6E8A-4147-A177-3AD203B41FA5}">
                      <a16:colId xmlns:a16="http://schemas.microsoft.com/office/drawing/2014/main" val="145681373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 dirty="0" err="1"/>
                        <a:t>Paramètres</a:t>
                      </a:r>
                      <a:r>
                        <a:rPr lang="en-GB" sz="1400" dirty="0"/>
                        <a:t> tags à capturer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GB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25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Tag_1 à tag_5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Tag à capture de </a:t>
                      </a:r>
                      <a:r>
                        <a:rPr lang="en-GB" sz="1400" dirty="0" err="1"/>
                        <a:t>forme</a:t>
                      </a:r>
                      <a:r>
                        <a:rPr lang="en-GB" sz="1400" dirty="0"/>
                        <a:t> “01101728E6”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196412"/>
                  </a:ext>
                </a:extLst>
              </a:tr>
            </a:tbl>
          </a:graphicData>
        </a:graphic>
      </p:graphicFrame>
      <p:sp>
        <p:nvSpPr>
          <p:cNvPr id="14" name="ZoneTexte 13">
            <a:extLst>
              <a:ext uri="{FF2B5EF4-FFF2-40B4-BE49-F238E27FC236}">
                <a16:creationId xmlns:a16="http://schemas.microsoft.com/office/drawing/2014/main" id="{6CE07B35-B801-44EC-A876-7AC3490487DD}"/>
              </a:ext>
            </a:extLst>
          </p:cNvPr>
          <p:cNvSpPr txBox="1"/>
          <p:nvPr/>
        </p:nvSpPr>
        <p:spPr>
          <a:xfrm>
            <a:off x="6881267" y="1562782"/>
            <a:ext cx="3692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Ecriture</a:t>
            </a:r>
            <a:r>
              <a:rPr lang="en-GB" sz="2800" dirty="0"/>
              <a:t> des </a:t>
            </a:r>
            <a:r>
              <a:rPr lang="en-GB" sz="2800" dirty="0" err="1"/>
              <a:t>données</a:t>
            </a:r>
            <a:endParaRPr lang="en-GB" sz="2800" dirty="0"/>
          </a:p>
        </p:txBody>
      </p:sp>
      <p:sp>
        <p:nvSpPr>
          <p:cNvPr id="15" name="Sous-titre 5">
            <a:extLst>
              <a:ext uri="{FF2B5EF4-FFF2-40B4-BE49-F238E27FC236}">
                <a16:creationId xmlns:a16="http://schemas.microsoft.com/office/drawing/2014/main" id="{9BF932FF-51B7-45DB-9910-0A13896DA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2481" y="2407361"/>
            <a:ext cx="4412695" cy="1555834"/>
          </a:xfrm>
        </p:spPr>
        <p:txBody>
          <a:bodyPr>
            <a:normAutofit/>
          </a:bodyPr>
          <a:lstStyle/>
          <a:p>
            <a:pPr algn="l"/>
            <a:r>
              <a:rPr lang="fr-FR" sz="2000" dirty="0"/>
              <a:t>Écriture des données sur un fichier texte différent pour chaque jour</a:t>
            </a:r>
          </a:p>
          <a:p>
            <a:pPr algn="l"/>
            <a:endParaRPr lang="fr-FR" sz="1800" dirty="0"/>
          </a:p>
          <a:p>
            <a:pPr algn="l"/>
            <a:endParaRPr lang="fr-FR" sz="1800" dirty="0"/>
          </a:p>
          <a:p>
            <a:pPr algn="l"/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A0D03B2-E56B-493E-B686-90215232AB43}"/>
              </a:ext>
            </a:extLst>
          </p:cNvPr>
          <p:cNvSpPr txBox="1"/>
          <p:nvPr/>
        </p:nvSpPr>
        <p:spPr>
          <a:xfrm>
            <a:off x="1298308" y="4123875"/>
            <a:ext cx="451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Mode </a:t>
            </a:r>
            <a:r>
              <a:rPr lang="en-GB" sz="2800" dirty="0" err="1"/>
              <a:t>économie</a:t>
            </a:r>
            <a:r>
              <a:rPr lang="en-GB" sz="2800" dirty="0"/>
              <a:t> </a:t>
            </a:r>
            <a:r>
              <a:rPr lang="en-GB" sz="2800" dirty="0" err="1"/>
              <a:t>d’énergie</a:t>
            </a:r>
            <a:endParaRPr lang="en-GB" sz="28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5C71D56-8F5C-41E1-B562-1A8205AFFDAF}"/>
              </a:ext>
            </a:extLst>
          </p:cNvPr>
          <p:cNvSpPr txBox="1"/>
          <p:nvPr/>
        </p:nvSpPr>
        <p:spPr>
          <a:xfrm>
            <a:off x="561902" y="4814052"/>
            <a:ext cx="5434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Activation </a:t>
            </a:r>
            <a:r>
              <a:rPr lang="en-GB" dirty="0" err="1"/>
              <a:t>gérée</a:t>
            </a:r>
            <a:r>
              <a:rPr lang="en-GB" dirty="0"/>
              <a:t> dans les </a:t>
            </a:r>
            <a:r>
              <a:rPr lang="en-GB" dirty="0" err="1"/>
              <a:t>paramètres</a:t>
            </a:r>
            <a:endParaRPr lang="en-GB" dirty="0"/>
          </a:p>
          <a:p>
            <a:r>
              <a:rPr lang="en-GB" dirty="0" err="1"/>
              <a:t>Désactive</a:t>
            </a:r>
            <a:r>
              <a:rPr lang="en-GB" dirty="0"/>
              <a:t> tout les </a:t>
            </a:r>
            <a:r>
              <a:rPr lang="en-GB" dirty="0" err="1"/>
              <a:t>composants</a:t>
            </a:r>
            <a:r>
              <a:rPr lang="en-GB" dirty="0"/>
              <a:t> </a:t>
            </a:r>
            <a:r>
              <a:rPr lang="en-GB" dirty="0" err="1"/>
              <a:t>sauf</a:t>
            </a:r>
            <a:r>
              <a:rPr lang="en-GB" dirty="0"/>
              <a:t> la carte et </a:t>
            </a:r>
            <a:r>
              <a:rPr lang="en-GB" dirty="0" err="1"/>
              <a:t>l’horloge</a:t>
            </a:r>
            <a:r>
              <a:rPr lang="en-GB" dirty="0"/>
              <a:t> sur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plage</a:t>
            </a:r>
            <a:r>
              <a:rPr lang="en-GB" dirty="0"/>
              <a:t> </a:t>
            </a:r>
            <a:r>
              <a:rPr lang="en-GB" dirty="0" err="1"/>
              <a:t>horaire</a:t>
            </a:r>
            <a:r>
              <a:rPr lang="en-GB" dirty="0"/>
              <a:t> </a:t>
            </a:r>
            <a:r>
              <a:rPr lang="en-GB" dirty="0" err="1"/>
              <a:t>définie</a:t>
            </a:r>
            <a:r>
              <a:rPr lang="en-GB" dirty="0"/>
              <a:t> dans les </a:t>
            </a:r>
            <a:r>
              <a:rPr lang="en-GB" dirty="0" err="1"/>
              <a:t>paramètres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70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Autonomie théorique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500" y="630880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9</a:t>
            </a:r>
          </a:p>
        </p:txBody>
      </p:sp>
      <p:graphicFrame>
        <p:nvGraphicFramePr>
          <p:cNvPr id="3" name="Tableau 9">
            <a:extLst>
              <a:ext uri="{FF2B5EF4-FFF2-40B4-BE49-F238E27FC236}">
                <a16:creationId xmlns:a16="http://schemas.microsoft.com/office/drawing/2014/main" id="{AA8D2A3B-6BD6-4BA8-AE89-11D3AD681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20481"/>
              </p:ext>
            </p:extLst>
          </p:nvPr>
        </p:nvGraphicFramePr>
        <p:xfrm>
          <a:off x="2248927" y="1882444"/>
          <a:ext cx="7178124" cy="2560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708">
                  <a:extLst>
                    <a:ext uri="{9D8B030D-6E8A-4147-A177-3AD203B41FA5}">
                      <a16:colId xmlns:a16="http://schemas.microsoft.com/office/drawing/2014/main" val="998810268"/>
                    </a:ext>
                  </a:extLst>
                </a:gridCol>
                <a:gridCol w="2392708">
                  <a:extLst>
                    <a:ext uri="{9D8B030D-6E8A-4147-A177-3AD203B41FA5}">
                      <a16:colId xmlns:a16="http://schemas.microsoft.com/office/drawing/2014/main" val="2953687536"/>
                    </a:ext>
                  </a:extLst>
                </a:gridCol>
                <a:gridCol w="2392708">
                  <a:extLst>
                    <a:ext uri="{9D8B030D-6E8A-4147-A177-3AD203B41FA5}">
                      <a16:colId xmlns:a16="http://schemas.microsoft.com/office/drawing/2014/main" val="1929374291"/>
                    </a:ext>
                  </a:extLst>
                </a:gridCol>
              </a:tblGrid>
              <a:tr h="822807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</a:t>
                      </a:r>
                      <a:r>
                        <a:rPr lang="en-GB" dirty="0" err="1"/>
                        <a:t>éco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désactivé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Mode </a:t>
                      </a:r>
                      <a:r>
                        <a:rPr lang="en-GB" dirty="0" err="1"/>
                        <a:t>éco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activé</a:t>
                      </a:r>
                      <a:r>
                        <a:rPr lang="en-GB" dirty="0"/>
                        <a:t> (22h-6h)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149977"/>
                  </a:ext>
                </a:extLst>
              </a:tr>
              <a:tr h="850939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Utilisation solaire (batterie </a:t>
                      </a:r>
                      <a:r>
                        <a:rPr lang="en-GB" b="1" dirty="0" err="1">
                          <a:solidFill>
                            <a:schemeClr val="bg1"/>
                          </a:solidFill>
                        </a:rPr>
                        <a:t>chargée</a:t>
                      </a:r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 au max et pas de soleil)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 </a:t>
                      </a:r>
                      <a:r>
                        <a:rPr lang="en-GB" dirty="0" err="1"/>
                        <a:t>heures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281659"/>
                  </a:ext>
                </a:extLst>
              </a:tr>
              <a:tr h="822807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Utilisation power bank (10 Ah)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 jours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115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4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800" y="161151"/>
            <a:ext cx="9144000" cy="1080272"/>
          </a:xfrm>
        </p:spPr>
        <p:txBody>
          <a:bodyPr>
            <a:normAutofit/>
          </a:bodyPr>
          <a:lstStyle/>
          <a:p>
            <a:r>
              <a:rPr lang="fr-FR" sz="4800" dirty="0"/>
              <a:t>Conclusion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753" y="292100"/>
            <a:ext cx="1324347" cy="107553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7" y="292100"/>
            <a:ext cx="949323" cy="949323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3886200" y="6316702"/>
            <a:ext cx="501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Réunion d’avancement projet nichoir à mésanges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17500" y="631670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Mardi 29 Juin 2021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493499" y="6308804"/>
            <a:ext cx="442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6271017" y="2099414"/>
            <a:ext cx="5713472" cy="1989507"/>
          </a:xfrm>
        </p:spPr>
        <p:txBody>
          <a:bodyPr>
            <a:normAutofit/>
          </a:bodyPr>
          <a:lstStyle/>
          <a:p>
            <a:pPr algn="l"/>
            <a:r>
              <a:rPr lang="fr-FR" dirty="0"/>
              <a:t>A faire prochainement :</a:t>
            </a:r>
          </a:p>
          <a:p>
            <a:pPr algn="l"/>
            <a:r>
              <a:rPr lang="fr-FR" dirty="0"/>
              <a:t>- Intégrer les remarques des utilisateurs </a:t>
            </a:r>
          </a:p>
          <a:p>
            <a:pPr algn="l"/>
            <a:r>
              <a:rPr lang="fr-FR" dirty="0"/>
              <a:t>- Finir le câblage du circuit électrique</a:t>
            </a:r>
          </a:p>
          <a:p>
            <a:pPr algn="l"/>
            <a:r>
              <a:rPr lang="fr-FR" dirty="0"/>
              <a:t>- Intégrer le circuit au prototype de boitier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0FF5D31-B394-4D69-91CA-522AFF763273}"/>
              </a:ext>
            </a:extLst>
          </p:cNvPr>
          <p:cNvSpPr txBox="1"/>
          <p:nvPr/>
        </p:nvSpPr>
        <p:spPr>
          <a:xfrm>
            <a:off x="614323" y="2099414"/>
            <a:ext cx="52700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Fonctionnalités</a:t>
            </a:r>
            <a:r>
              <a:rPr lang="en-GB" sz="2400" dirty="0"/>
              <a:t> </a:t>
            </a:r>
            <a:r>
              <a:rPr lang="en-GB" sz="2400" dirty="0" err="1"/>
              <a:t>principales</a:t>
            </a:r>
            <a:r>
              <a:rPr lang="en-GB" sz="2400" dirty="0"/>
              <a:t> :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Gestion des </a:t>
            </a:r>
            <a:r>
              <a:rPr lang="en-GB" sz="2400" dirty="0" err="1"/>
              <a:t>paramètres</a:t>
            </a:r>
            <a:r>
              <a:rPr lang="en-GB" sz="2400" dirty="0"/>
              <a:t> </a:t>
            </a:r>
            <a:r>
              <a:rPr lang="en-GB" sz="2400" dirty="0" err="1"/>
              <a:t>facilité</a:t>
            </a:r>
            <a:r>
              <a:rPr lang="en-GB" sz="2400" dirty="0"/>
              <a:t> (activation de </a:t>
            </a:r>
            <a:r>
              <a:rPr lang="en-GB" sz="2400" dirty="0" err="1"/>
              <a:t>composants</a:t>
            </a:r>
            <a:r>
              <a:rPr lang="en-GB" sz="2400" dirty="0"/>
              <a:t>, </a:t>
            </a:r>
            <a:r>
              <a:rPr lang="en-GB" sz="2400" dirty="0" err="1"/>
              <a:t>délais</a:t>
            </a:r>
            <a:r>
              <a:rPr lang="en-GB" sz="2400" dirty="0"/>
              <a:t> et tags à capturer)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Mode </a:t>
            </a:r>
            <a:r>
              <a:rPr lang="en-GB" sz="2400" dirty="0" err="1"/>
              <a:t>économie</a:t>
            </a:r>
            <a:r>
              <a:rPr lang="en-GB" sz="2400" dirty="0"/>
              <a:t> </a:t>
            </a:r>
            <a:r>
              <a:rPr lang="en-GB" sz="2400" dirty="0" err="1"/>
              <a:t>d’énergie</a:t>
            </a:r>
            <a:endParaRPr lang="en-GB" sz="2400" dirty="0"/>
          </a:p>
          <a:p>
            <a:pPr marL="285750" indent="-285750">
              <a:buFontTx/>
              <a:buChar char="-"/>
            </a:pPr>
            <a:r>
              <a:rPr lang="en-GB" sz="2400" dirty="0"/>
              <a:t>Modes de capture </a:t>
            </a:r>
            <a:r>
              <a:rPr lang="en-GB" sz="2400" dirty="0" err="1"/>
              <a:t>spécifiques</a:t>
            </a:r>
            <a:endParaRPr lang="en-GB" sz="2400" dirty="0"/>
          </a:p>
          <a:p>
            <a:pPr marL="285750" indent="-285750">
              <a:buFontTx/>
              <a:buChar char="-"/>
            </a:pPr>
            <a:r>
              <a:rPr lang="en-GB" sz="2400" dirty="0" err="1"/>
              <a:t>Ecriture</a:t>
            </a:r>
            <a:r>
              <a:rPr lang="en-GB" sz="2400" dirty="0"/>
              <a:t> des </a:t>
            </a:r>
            <a:r>
              <a:rPr lang="en-GB" sz="2400" dirty="0" err="1"/>
              <a:t>données</a:t>
            </a:r>
            <a:r>
              <a:rPr lang="en-GB" sz="2400" dirty="0"/>
              <a:t> sur microSD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8026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Grand écran</PresentationFormat>
  <Paragraphs>172</Paragraphs>
  <Slides>10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Projet nichoir à mésanges</vt:lpstr>
      <vt:lpstr>Présentation du projet</vt:lpstr>
      <vt:lpstr>Technologies utilisées</vt:lpstr>
      <vt:lpstr>Schéma du système</vt:lpstr>
      <vt:lpstr>Avancement</vt:lpstr>
      <vt:lpstr>Fonctionnalités particulières</vt:lpstr>
      <vt:lpstr>Fonctionnalités particulières</vt:lpstr>
      <vt:lpstr>Fonctionnalités particulières</vt:lpstr>
      <vt:lpstr>Autonomie théorique</vt:lpstr>
      <vt:lpstr>Conclusion</vt:lpstr>
    </vt:vector>
  </TitlesOfParts>
  <Company>IPHC IN2P3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nichoir à mésanges</dc:title>
  <dc:creator>yann leguereau</dc:creator>
  <cp:lastModifiedBy>Yann Leguereau</cp:lastModifiedBy>
  <cp:revision>35</cp:revision>
  <dcterms:created xsi:type="dcterms:W3CDTF">2021-06-28T13:16:47Z</dcterms:created>
  <dcterms:modified xsi:type="dcterms:W3CDTF">2021-07-30T13:31:25Z</dcterms:modified>
</cp:coreProperties>
</file>